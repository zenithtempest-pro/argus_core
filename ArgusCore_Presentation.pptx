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039E-FFE6-9E82-CCC7-2EE94389D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4DF8F-5E20-229D-80D9-7DD393A6C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B510B-449B-7D13-6B09-A0FCCA4D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4DE84-4AD0-71AB-C94B-08F652DF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242FE-A46C-F015-0B2F-76E7C89D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8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B428-573D-832E-E564-A4F05369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689A5-078E-DF55-DA4B-514593A5E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53268-460E-88B5-C17F-55A50D8E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C581D-96D2-BEB4-61C9-9F25970B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71504-D735-8367-778F-451F5F72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9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1DC4-1CC5-EBDD-7EC3-2D5C25ED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5126-AE18-1490-FDA9-25A50BC63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DE8B6-E16A-F8A3-FF7D-668FD3CE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01E06-9265-AB17-2749-5FA5AB62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848B6-D886-AF35-0C08-105979CF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73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30B1-9915-0BE0-267B-AD5B9999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3CFC6-6D90-A12F-1A22-06C497B88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BF91F-6FF8-D79A-36CA-0F372F511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EE93A-C838-AAFD-2987-CBBA43F7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31300-A8DE-F4C3-5C52-CB85B579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CEDA7-E26C-114C-0FFD-716B5743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04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8F1F-9A8B-8FE8-CF27-52DBC07C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8BEC5-D4BD-9E6F-3684-539899990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FE878-7127-0638-D4C0-FA6EFBA59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56CB7-1EF6-37DD-45BD-C526D087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2DA72-F05A-8B20-BEE4-812B3B746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3FD893-B64D-46B6-EF44-B5C92756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4A7C8-87A8-614C-5B2E-6AB1B459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EB898-FB12-9146-D2E4-F3631484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14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3692-C10B-92DF-313D-D0EC45BF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26E06-25D9-1BA0-C32F-117E8F58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40C84-8274-ED8C-84B9-D1AF4525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B1F7D-CFD9-9354-6CB7-E2C68BCB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2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18B92-542E-6234-D578-6296A143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B3891-15CC-8FC2-6D70-E45F1521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FDB61-E0BB-0870-75CE-98700BB3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6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6DAF-09B6-08A8-96DE-686E126C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FF46-5904-B224-0373-8D2C78E4A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6C25E-5EFE-91C2-24A9-1AC4B9793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18ED4-2D34-9611-F60F-A44ACD29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8BBCD-E5FF-6DDB-0392-FE992068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C73C0-48A4-0819-7AB2-ECCF614E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6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5828-9FED-1444-6442-F2538AF8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E5D6C-5D84-30EE-9F5A-F8B7ABEE3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82FD5-2F1B-5726-4CFD-A5917FEC0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3A5A2-30BC-314F-5222-E637CA41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1098A-6894-A753-8126-399BB959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EF6AE-BA6D-CF80-2E13-1553EB1B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39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08E1-CF27-0749-3322-9FB3089D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50BB7-55FC-C07C-7AC4-45E4FBA88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079DC-BC2D-A8E5-3B90-5A7DF07E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4B725-00E2-D356-0151-A178339A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94F1-6149-067E-8354-6438C65E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49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DFDE6D-1B66-8645-E7F0-60BBE9069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9EF2C-FBC5-98FB-7E69-34EFA9471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0500E-F21E-D4AE-71C9-DEB76F9E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9FEF0-DC63-0F6F-D91B-DFF94B6CB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05FCF-458A-869D-F13C-5398B5EF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16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467211-BBFA-F14D-63F3-4B74181D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C2B98-C9AF-84D3-916A-312C80FE9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DAB2F-E206-D7C9-9E42-151666423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8A56B-D7DD-4DCE-A3FB-67F07D09515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58BF1-645C-749B-ECD4-028A64671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A583-9721-7872-2001-0AD3BF7DF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59584-BB95-47B3-8794-99CF55885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61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131693-F6B7-C68B-81A4-33F596092D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FEFDA-2E9B-994B-5527-D404C4631C67}"/>
              </a:ext>
            </a:extLst>
          </p:cNvPr>
          <p:cNvSpPr txBox="1"/>
          <p:nvPr/>
        </p:nvSpPr>
        <p:spPr>
          <a:xfrm>
            <a:off x="635000" y="444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2563EB"/>
                </a:solidFill>
                <a:latin typeface="Segoe UI" panose="020B0502040204020203" pitchFamily="34" charset="0"/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5B43F-5DBD-E9FF-6C62-841E83CAEE15}"/>
              </a:ext>
            </a:extLst>
          </p:cNvPr>
          <p:cNvSpPr txBox="1"/>
          <p:nvPr/>
        </p:nvSpPr>
        <p:spPr>
          <a:xfrm>
            <a:off x="635000" y="7620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ArgusCore Intelligence &amp; Diagnostics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5A769-19EA-8BAA-C31E-61849A3879C0}"/>
              </a:ext>
            </a:extLst>
          </p:cNvPr>
          <p:cNvSpPr txBox="1"/>
          <p:nvPr/>
        </p:nvSpPr>
        <p:spPr>
          <a:xfrm>
            <a:off x="635000" y="13335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Unified OSINT, Network Diagnostics, and Automation Platform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73DB1A-C58A-4884-560A-F280B25C6425}"/>
              </a:ext>
            </a:extLst>
          </p:cNvPr>
          <p:cNvSpPr/>
          <p:nvPr/>
        </p:nvSpPr>
        <p:spPr>
          <a:xfrm>
            <a:off x="635000" y="1841500"/>
            <a:ext cx="10922000" cy="4381500"/>
          </a:xfrm>
          <a:prstGeom prst="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2FF33-B238-E852-A292-1F5BBB9F379B}"/>
              </a:ext>
            </a:extLst>
          </p:cNvPr>
          <p:cNvSpPr txBox="1"/>
          <p:nvPr/>
        </p:nvSpPr>
        <p:spPr>
          <a:xfrm>
            <a:off x="1016000" y="2159000"/>
            <a:ext cx="10160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dirty="0">
                <a:solidFill>
                  <a:srgbClr val="F8FAFC"/>
                </a:solidFill>
                <a:latin typeface="Segoe UI" panose="020B0502040204020203" pitchFamily="34" charset="0"/>
              </a:rPr>
              <a:t>Comprehensive passive reconnaissance across Identity, Network, and Media.
Integrated </a:t>
            </a:r>
            <a:r>
              <a:rPr lang="en-IN" sz="1400" dirty="0" err="1">
                <a:solidFill>
                  <a:srgbClr val="F8FAFC"/>
                </a:solidFill>
                <a:latin typeface="Segoe UI" panose="020B0502040204020203" pitchFamily="34" charset="0"/>
              </a:rPr>
              <a:t>MXToolbox</a:t>
            </a:r>
            <a:r>
              <a:rPr lang="en-IN" sz="1400" dirty="0">
                <a:solidFill>
                  <a:srgbClr val="F8FAFC"/>
                </a:solidFill>
                <a:latin typeface="Segoe UI" panose="020B0502040204020203" pitchFamily="34" charset="0"/>
              </a:rPr>
              <a:t>-grade diagnostics with real-time RBL and DNS verification.
Dynamic Python script repository hub with automated SHA-256 integrity checks.
Engineered with Light/Dark UX, non-blocking async sockets, and RBAC admin controls.</a:t>
            </a:r>
          </a:p>
        </p:txBody>
      </p:sp>
    </p:spTree>
    <p:extLst>
      <p:ext uri="{BB962C8B-B14F-4D97-AF65-F5344CB8AC3E}">
        <p14:creationId xmlns:p14="http://schemas.microsoft.com/office/powerpoint/2010/main" val="477232156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7A8E3-C419-5F6C-F4C3-841C15FC74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8B33F-E144-21F5-2025-BE2EB6B2D364}"/>
              </a:ext>
            </a:extLst>
          </p:cNvPr>
          <p:cNvSpPr txBox="1"/>
          <p:nvPr/>
        </p:nvSpPr>
        <p:spPr>
          <a:xfrm>
            <a:off x="635000" y="444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2563EB"/>
                </a:solidFill>
                <a:latin typeface="Segoe UI" panose="020B0502040204020203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534A1-8EDF-86AA-B08A-459D91DE66B0}"/>
              </a:ext>
            </a:extLst>
          </p:cNvPr>
          <p:cNvSpPr txBox="1"/>
          <p:nvPr/>
        </p:nvSpPr>
        <p:spPr>
          <a:xfrm>
            <a:off x="635000" y="7620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Problem Statement &amp; Market Need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20601-4C41-7917-F239-E76C3288AA0A}"/>
              </a:ext>
            </a:extLst>
          </p:cNvPr>
          <p:cNvSpPr txBox="1"/>
          <p:nvPr/>
        </p:nvSpPr>
        <p:spPr>
          <a:xfrm>
            <a:off x="635000" y="13335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Eliminating tool fragmentation and performance issues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851B2-35E5-C62A-715B-AC2AF49E55FE}"/>
              </a:ext>
            </a:extLst>
          </p:cNvPr>
          <p:cNvSpPr/>
          <p:nvPr/>
        </p:nvSpPr>
        <p:spPr>
          <a:xfrm>
            <a:off x="635000" y="1841500"/>
            <a:ext cx="10922000" cy="4381500"/>
          </a:xfrm>
          <a:prstGeom prst="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E8BA0-23EE-B59B-6BAE-D31890731BCD}"/>
              </a:ext>
            </a:extLst>
          </p:cNvPr>
          <p:cNvSpPr txBox="1"/>
          <p:nvPr/>
        </p:nvSpPr>
        <p:spPr>
          <a:xfrm>
            <a:off x="1016000" y="2137228"/>
            <a:ext cx="10160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dirty="0">
                <a:solidFill>
                  <a:srgbClr val="F8FAFC"/>
                </a:solidFill>
                <a:latin typeface="Segoe UI" panose="020B0502040204020203" pitchFamily="34" charset="0"/>
              </a:rPr>
              <a:t>Investigators are forced to switch across 10+ disjointed external sites.
Synchronous network sockets hang and freeze traditional diagnostic tools.
Lack of unified +91 Indian telecom circle and carrier attribution engines.
Need for a verified, secure distribution hub for offline automation scripts.</a:t>
            </a:r>
          </a:p>
        </p:txBody>
      </p:sp>
    </p:spTree>
    <p:extLst>
      <p:ext uri="{BB962C8B-B14F-4D97-AF65-F5344CB8AC3E}">
        <p14:creationId xmlns:p14="http://schemas.microsoft.com/office/powerpoint/2010/main" val="1258482298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1C2A3E-0998-353B-FA55-35F9482242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C757E-73F9-C869-69C2-8E7646B10B89}"/>
              </a:ext>
            </a:extLst>
          </p:cNvPr>
          <p:cNvSpPr txBox="1"/>
          <p:nvPr/>
        </p:nvSpPr>
        <p:spPr>
          <a:xfrm>
            <a:off x="635000" y="444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2563EB"/>
                </a:solidFill>
                <a:latin typeface="Segoe UI" panose="020B0502040204020203" pitchFamily="34" charset="0"/>
              </a:rPr>
              <a:t>CORE OSINT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014B44-C542-5DA6-27BB-D3721B3D4F51}"/>
              </a:ext>
            </a:extLst>
          </p:cNvPr>
          <p:cNvSpPr txBox="1"/>
          <p:nvPr/>
        </p:nvSpPr>
        <p:spPr>
          <a:xfrm>
            <a:off x="635000" y="7620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Core Reconnaissance Suite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66030-0123-8012-A010-D98D0408C729}"/>
              </a:ext>
            </a:extLst>
          </p:cNvPr>
          <p:cNvSpPr txBox="1"/>
          <p:nvPr/>
        </p:nvSpPr>
        <p:spPr>
          <a:xfrm>
            <a:off x="635000" y="13335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94A3B8"/>
                </a:solidFill>
                <a:latin typeface="Segoe UI" panose="020B0502040204020203" pitchFamily="34" charset="0"/>
              </a:rPr>
              <a:t>Multi-target intelligence gathering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540CD9-88EB-CFDE-6CD5-09D9B3564FE5}"/>
              </a:ext>
            </a:extLst>
          </p:cNvPr>
          <p:cNvSpPr/>
          <p:nvPr/>
        </p:nvSpPr>
        <p:spPr>
          <a:xfrm>
            <a:off x="635000" y="1841500"/>
            <a:ext cx="10922000" cy="4381500"/>
          </a:xfrm>
          <a:prstGeom prst="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FD2F0-F9FF-5F16-37C0-0D6FD71B7DE5}"/>
              </a:ext>
            </a:extLst>
          </p:cNvPr>
          <p:cNvSpPr txBox="1"/>
          <p:nvPr/>
        </p:nvSpPr>
        <p:spPr>
          <a:xfrm>
            <a:off x="1016000" y="2159000"/>
            <a:ext cx="10160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F8FAFC"/>
                </a:solidFill>
                <a:latin typeface="Segoe UI" panose="020B0502040204020203" pitchFamily="34" charset="0"/>
              </a:rPr>
              <a:t>â€¢   Multi-Platform Username Hunter probing 25+ major social networks concurrently.
â€¢   Indian Phone (+91) Engine with TRAI/DoT 22-circle mapping and carrier attribution.
â€¢   EXIF Metadata extractor &amp; GPS forensic scrubber for uploaded media.
â€¢   Automated document dorking engine for targeted PDF, DOCX, and PPTX reconnaissance.</a:t>
            </a:r>
          </a:p>
        </p:txBody>
      </p:sp>
    </p:spTree>
    <p:extLst>
      <p:ext uri="{BB962C8B-B14F-4D97-AF65-F5344CB8AC3E}">
        <p14:creationId xmlns:p14="http://schemas.microsoft.com/office/powerpoint/2010/main" val="2779584184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4FCB72-BF91-43E4-CEA3-735153229E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B9740-27E4-36A2-BFC6-3D5A09B15A41}"/>
              </a:ext>
            </a:extLst>
          </p:cNvPr>
          <p:cNvSpPr txBox="1"/>
          <p:nvPr/>
        </p:nvSpPr>
        <p:spPr>
          <a:xfrm>
            <a:off x="635000" y="444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2563EB"/>
                </a:solidFill>
                <a:latin typeface="Segoe UI" panose="020B0502040204020203" pitchFamily="34" charset="0"/>
              </a:rPr>
              <a:t>NETWORK 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E817F-7CA4-910C-9188-AF1E0E66FF9E}"/>
              </a:ext>
            </a:extLst>
          </p:cNvPr>
          <p:cNvSpPr txBox="1"/>
          <p:nvPr/>
        </p:nvSpPr>
        <p:spPr>
          <a:xfrm>
            <a:off x="635000" y="7620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MXToolbox-Grade Diagnostic Suite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3C278-C5BD-F675-C25B-E16D14C01494}"/>
              </a:ext>
            </a:extLst>
          </p:cNvPr>
          <p:cNvSpPr txBox="1"/>
          <p:nvPr/>
        </p:nvSpPr>
        <p:spPr>
          <a:xfrm>
            <a:off x="635000" y="13335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Deep email security &amp; server reputation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A183D-2532-AC57-A50E-B07B4CDE1C7D}"/>
              </a:ext>
            </a:extLst>
          </p:cNvPr>
          <p:cNvSpPr/>
          <p:nvPr/>
        </p:nvSpPr>
        <p:spPr>
          <a:xfrm>
            <a:off x="635000" y="1841500"/>
            <a:ext cx="10922000" cy="4381500"/>
          </a:xfrm>
          <a:prstGeom prst="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AA4E5-3774-A92F-68A7-0A73AACD6C8A}"/>
              </a:ext>
            </a:extLst>
          </p:cNvPr>
          <p:cNvSpPr txBox="1"/>
          <p:nvPr/>
        </p:nvSpPr>
        <p:spPr>
          <a:xfrm>
            <a:off x="1016000" y="2159000"/>
            <a:ext cx="10160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F8FAFC"/>
                </a:solidFill>
                <a:latin typeface="Segoe UI" panose="020B0502040204020203" pitchFamily="34" charset="0"/>
              </a:rPr>
              <a:t>â€¢   Universal SuperTool command bar with automated prefix cleaning (mx:, blacklist:, etc.).
â€¢   Multi-RBL reputation lookup across 100+ DNSBLs (Spamhaus, Barracuda, SORBS).
â€¢   RFC 7489 DMARC, SPF, DKIM, and BIMI policy compliance validation.
â€¢   RFC 822 Email Header hop, transit latency, and spam metric analyzer.</a:t>
            </a:r>
          </a:p>
        </p:txBody>
      </p:sp>
    </p:spTree>
    <p:extLst>
      <p:ext uri="{BB962C8B-B14F-4D97-AF65-F5344CB8AC3E}">
        <p14:creationId xmlns:p14="http://schemas.microsoft.com/office/powerpoint/2010/main" val="277247379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37B131-802F-7551-B05B-7299DFE848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D1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22C5-B99D-3C57-BBF2-162BA163535D}"/>
              </a:ext>
            </a:extLst>
          </p:cNvPr>
          <p:cNvSpPr txBox="1"/>
          <p:nvPr/>
        </p:nvSpPr>
        <p:spPr>
          <a:xfrm>
            <a:off x="635000" y="444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2563EB"/>
                </a:solidFill>
                <a:latin typeface="Segoe UI" panose="020B0502040204020203" pitchFamily="34" charset="0"/>
              </a:rPr>
              <a:t>GOVERNANCE &amp;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2B82C-AD40-AF35-745C-958CB6A43B3F}"/>
              </a:ext>
            </a:extLst>
          </p:cNvPr>
          <p:cNvSpPr txBox="1"/>
          <p:nvPr/>
        </p:nvSpPr>
        <p:spPr>
          <a:xfrm>
            <a:off x="635000" y="7620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8FAFC"/>
                </a:solidFill>
                <a:latin typeface="Segoe UI" panose="020B0502040204020203" pitchFamily="34" charset="0"/>
              </a:rPr>
              <a:t>System Architecture &amp;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39A9D-F689-F339-A6B3-F781152139D9}"/>
              </a:ext>
            </a:extLst>
          </p:cNvPr>
          <p:cNvSpPr txBox="1"/>
          <p:nvPr/>
        </p:nvSpPr>
        <p:spPr>
          <a:xfrm>
            <a:off x="635000" y="13335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>
                <a:solidFill>
                  <a:srgbClr val="94A3B8"/>
                </a:solidFill>
                <a:latin typeface="Segoe UI" panose="020B0502040204020203" pitchFamily="34" charset="0"/>
              </a:rPr>
              <a:t>High-performance full-stack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B92C7A-B99A-DD84-B653-443556F4C12B}"/>
              </a:ext>
            </a:extLst>
          </p:cNvPr>
          <p:cNvSpPr/>
          <p:nvPr/>
        </p:nvSpPr>
        <p:spPr>
          <a:xfrm>
            <a:off x="635000" y="1841500"/>
            <a:ext cx="10922000" cy="4381500"/>
          </a:xfrm>
          <a:prstGeom prst="rect">
            <a:avLst/>
          </a:prstGeom>
          <a:solidFill>
            <a:srgbClr val="131B2E"/>
          </a:solidFill>
          <a:ln w="1905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7F523-F174-99E9-D80C-DF558EEB84F5}"/>
              </a:ext>
            </a:extLst>
          </p:cNvPr>
          <p:cNvSpPr txBox="1"/>
          <p:nvPr/>
        </p:nvSpPr>
        <p:spPr>
          <a:xfrm>
            <a:off x="1016000" y="2159000"/>
            <a:ext cx="10160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>
                <a:solidFill>
                  <a:srgbClr val="F8FAFC"/>
                </a:solidFill>
                <a:latin typeface="Segoe UI" panose="020B0502040204020203" pitchFamily="34" charset="0"/>
              </a:rPr>
              <a:t>â€¢   Next.js App Router with Light/Dark mode state persistence in localStorage.
â€¢   Non-blocking parallel queries (Promise.allSettled) with 3.5s timeouts.
â€¢   RBAC Admin control center at /admin with live audit logs and session monitoring.
â€¢   Official analyst support routing directly to supportarguscore@gmail.com.</a:t>
            </a:r>
          </a:p>
        </p:txBody>
      </p:sp>
    </p:spTree>
    <p:extLst>
      <p:ext uri="{BB962C8B-B14F-4D97-AF65-F5344CB8AC3E}">
        <p14:creationId xmlns:p14="http://schemas.microsoft.com/office/powerpoint/2010/main" val="36301844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382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Zenith Tempest</dc:creator>
  <cp:lastModifiedBy>Zenith Tempest</cp:lastModifiedBy>
  <cp:revision>2</cp:revision>
  <dcterms:created xsi:type="dcterms:W3CDTF">2026-08-19T05:50:20Z</dcterms:created>
  <dcterms:modified xsi:type="dcterms:W3CDTF">2026-08-19T05:55:03Z</dcterms:modified>
</cp:coreProperties>
</file>